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65" r:id="rId2"/>
    <p:sldMasterId id="2147483677" r:id="rId3"/>
    <p:sldMasterId id="2147483679" r:id="rId4"/>
    <p:sldMasterId id="2147483682" r:id="rId5"/>
  </p:sldMasterIdLst>
  <p:notesMasterIdLst>
    <p:notesMasterId r:id="rId11"/>
  </p:notesMasterIdLst>
  <p:sldIdLst>
    <p:sldId id="303" r:id="rId6"/>
    <p:sldId id="258" r:id="rId7"/>
    <p:sldId id="259" r:id="rId8"/>
    <p:sldId id="260" r:id="rId9"/>
    <p:sldId id="261" r:id="rId10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1BBC8F-2E92-42F2-B367-1EF75464BE69}" v="1" dt="2026-10-19T09:41:35.7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reesh Vardhan" userId="73748b1a116fc573" providerId="LiveId" clId="{C1D3B198-1CFF-4CA2-9321-A2E5395712CB}"/>
    <pc:docChg chg="addSld delSld modSld">
      <pc:chgData name="Gireesh Vardhan" userId="73748b1a116fc573" providerId="LiveId" clId="{C1D3B198-1CFF-4CA2-9321-A2E5395712CB}" dt="2026-10-19T09:41:41.625" v="3" actId="2696"/>
      <pc:docMkLst>
        <pc:docMk/>
      </pc:docMkLst>
      <pc:sldChg chg="del">
        <pc:chgData name="Gireesh Vardhan" userId="73748b1a116fc573" providerId="LiveId" clId="{C1D3B198-1CFF-4CA2-9321-A2E5395712CB}" dt="2026-10-19T09:41:38.784" v="2" actId="2696"/>
        <pc:sldMkLst>
          <pc:docMk/>
          <pc:sldMk cId="0" sldId="257"/>
        </pc:sldMkLst>
      </pc:sldChg>
      <pc:sldChg chg="add del">
        <pc:chgData name="Gireesh Vardhan" userId="73748b1a116fc573" providerId="LiveId" clId="{C1D3B198-1CFF-4CA2-9321-A2E5395712CB}" dt="2026-10-19T09:41:41.625" v="3" actId="2696"/>
        <pc:sldMkLst>
          <pc:docMk/>
          <pc:sldMk cId="3628528878" sldId="262"/>
        </pc:sldMkLst>
      </pc:sldChg>
      <pc:sldChg chg="add setBg">
        <pc:chgData name="Gireesh Vardhan" userId="73748b1a116fc573" providerId="LiveId" clId="{C1D3B198-1CFF-4CA2-9321-A2E5395712CB}" dt="2026-10-19T09:41:35.762" v="1"/>
        <pc:sldMkLst>
          <pc:docMk/>
          <pc:sldMk cId="221529095" sldId="30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7219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3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68" name="Google Shape;768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9" name="Google Shape;769;p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0" name="Google Shape;770;p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1" name="Google Shape;771;p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372518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74" name="Google Shape;774;p4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5" name="Google Shape;775;p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6" name="Google Shape;776;p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7" name="Google Shape;777;p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767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80" name="Google Shape;780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1" name="Google Shape;781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2" name="Google Shape;782;p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3" name="Google Shape;783;p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4" name="Google Shape;784;p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728483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6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87" name="Google Shape;787;p6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8" name="Google Shape;788;p6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9" name="Google Shape;789;p6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0" name="Google Shape;790;p6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1" name="Google Shape;791;p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2" name="Google Shape;792;p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3" name="Google Shape;793;p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75817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96" name="Google Shape;796;p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7" name="Google Shape;797;p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8" name="Google Shape;798;p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806498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1" name="Google Shape;801;p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2" name="Google Shape;802;p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401408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05" name="Google Shape;805;p9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6" name="Google Shape;806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7" name="Google Shape;807;p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8" name="Google Shape;808;p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9" name="Google Shape;809;p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62659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12" name="Google Shape;812;p10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813" name="Google Shape;813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4" name="Google Shape;814;p1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5" name="Google Shape;815;p1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6" name="Google Shape;816;p1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522331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1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19" name="Google Shape;819;p11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0" name="Google Shape;820;p1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1" name="Google Shape;821;p1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2" name="Google Shape;822;p1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264369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2"/>
          <p:cNvSpPr txBox="1">
            <a:spLocks noGrp="1"/>
          </p:cNvSpPr>
          <p:nvPr>
            <p:ph type="title"/>
          </p:nvPr>
        </p:nvSpPr>
        <p:spPr>
          <a:xfrm rot="5400000">
            <a:off x="7133401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25" name="Google Shape;825;p12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6" name="Google Shape;826;p1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7" name="Google Shape;827;p1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8" name="Google Shape;828;p1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711474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3"/>
          <p:cNvSpPr txBox="1">
            <a:spLocks noGrp="1"/>
          </p:cNvSpPr>
          <p:nvPr>
            <p:ph type="title"/>
          </p:nvPr>
        </p:nvSpPr>
        <p:spPr>
          <a:xfrm>
            <a:off x="838091" y="365084"/>
            <a:ext cx="10515900" cy="8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99"/>
              <a:buFont typeface="Poppins"/>
              <a:buNone/>
              <a:defRPr sz="3599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41008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437753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6682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1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43" name="Google Shape;843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4" name="Google Shape;844;p1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5" name="Google Shape;845;p1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6" name="Google Shape;846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2714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49" name="Google Shape;849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50" name="Google Shape;850;p1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1" name="Google Shape;851;p1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2" name="Google Shape;852;p1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2530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18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55" name="Google Shape;855;p18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56" name="Google Shape;856;p1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7" name="Google Shape;857;p1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8" name="Google Shape;858;p1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48251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1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61" name="Google Shape;86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2" name="Google Shape;862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3" name="Google Shape;863;p1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4" name="Google Shape;864;p1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5" name="Google Shape;865;p1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81068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68" name="Google Shape;868;p20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9" name="Google Shape;869;p20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0" name="Google Shape;870;p20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1" name="Google Shape;871;p20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2" name="Google Shape;872;p2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3" name="Google Shape;873;p2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4" name="Google Shape;874;p2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3353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2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77" name="Google Shape;877;p2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8" name="Google Shape;878;p2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9" name="Google Shape;879;p2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87634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2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2" name="Google Shape;882;p2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3" name="Google Shape;883;p2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13940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 preserve="1">
  <p:cSld name="Content with Caption"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6" name="Google Shape;886;p23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7" name="Google Shape;88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8" name="Google Shape;888;p2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9" name="Google Shape;889;p2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0" name="Google Shape;890;p2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80456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 preserve="1">
  <p:cSld name="Picture with Caption"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93" name="Google Shape;893;p24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894" name="Google Shape;89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5" name="Google Shape;895;p2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6" name="Google Shape;896;p2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7" name="Google Shape;897;p2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18649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 preserve="1">
  <p:cSld name="Title and Vertical Text"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2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0" name="Google Shape;900;p25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1" name="Google Shape;901;p2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2" name="Google Shape;902;p2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3" name="Google Shape;903;p2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98515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 preserve="1">
  <p:cSld name="Vertical Title and Text"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26"/>
          <p:cNvSpPr txBox="1">
            <a:spLocks noGrp="1"/>
          </p:cNvSpPr>
          <p:nvPr>
            <p:ph type="title"/>
          </p:nvPr>
        </p:nvSpPr>
        <p:spPr>
          <a:xfrm rot="5400000">
            <a:off x="7133401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6" name="Google Shape;906;p26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7" name="Google Shape;907;p2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8" name="Google Shape;908;p2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9" name="Google Shape;909;p2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15380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29374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>
  <p:cSld name="Title Slide"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28"/>
          <p:cNvSpPr txBox="1">
            <a:spLocks noGrp="1"/>
          </p:cNvSpPr>
          <p:nvPr>
            <p:ph type="ctrTitle"/>
          </p:nvPr>
        </p:nvSpPr>
        <p:spPr>
          <a:xfrm>
            <a:off x="3482340" y="3911285"/>
            <a:ext cx="9144000" cy="1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aramond"/>
              <a:buNone/>
              <a:defRPr sz="6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53147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13960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>
  <p:cSld name="Title Slide"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30"/>
          <p:cNvSpPr txBox="1">
            <a:spLocks noGrp="1"/>
          </p:cNvSpPr>
          <p:nvPr>
            <p:ph type="ctrTitle"/>
          </p:nvPr>
        </p:nvSpPr>
        <p:spPr>
          <a:xfrm>
            <a:off x="3482340" y="3911285"/>
            <a:ext cx="9144000" cy="1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aramond"/>
              <a:buNone/>
              <a:defRPr sz="6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023903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 preserve="1">
  <p:cSld name="1_Title Slide"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3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37" name="Google Shape;937;p3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38" name="Google Shape;938;p3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9" name="Google Shape;939;p3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0" name="Google Shape;940;p3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08258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3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52" name="Google Shape;952;p3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3" name="Google Shape;953;p3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4" name="Google Shape;954;p3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5" name="Google Shape;955;p3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55264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34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58" name="Google Shape;958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59" name="Google Shape;959;p3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0" name="Google Shape;960;p3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1" name="Google Shape;961;p3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76485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35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64" name="Google Shape;964;p35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65" name="Google Shape;965;p3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6" name="Google Shape;966;p3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7" name="Google Shape;967;p3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58766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3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70" name="Google Shape;970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1" name="Google Shape;971;p3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2" name="Google Shape;972;p3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3" name="Google Shape;973;p3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4" name="Google Shape;974;p3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01923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37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77" name="Google Shape;977;p37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8" name="Google Shape;978;p37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9" name="Google Shape;979;p37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80" name="Google Shape;980;p37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81" name="Google Shape;981;p3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2" name="Google Shape;982;p3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3" name="Google Shape;983;p3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22930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38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86" name="Google Shape;986;p3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7" name="Google Shape;987;p3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8" name="Google Shape;988;p3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94848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1" name="Google Shape;991;p3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2" name="Google Shape;992;p3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31561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 preserve="1">
  <p:cSld name="Content with Caption"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4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5" name="Google Shape;995;p40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96" name="Google Shape;996;p4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97" name="Google Shape;997;p4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8" name="Google Shape;998;p4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9" name="Google Shape;999;p4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266338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 preserve="1">
  <p:cSld name="Picture with Caption"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4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2" name="Google Shape;1002;p41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03" name="Google Shape;1003;p4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4" name="Google Shape;1004;p4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5" name="Google Shape;1005;p4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6" name="Google Shape;1006;p4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07244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 preserve="1">
  <p:cSld name="Title and Vertical Text"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4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9" name="Google Shape;1009;p42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0" name="Google Shape;1010;p4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1" name="Google Shape;1011;p4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2" name="Google Shape;1012;p4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371624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 preserve="1">
  <p:cSld name="Vertical Title and Text"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43"/>
          <p:cNvSpPr txBox="1">
            <a:spLocks noGrp="1"/>
          </p:cNvSpPr>
          <p:nvPr>
            <p:ph type="title"/>
          </p:nvPr>
        </p:nvSpPr>
        <p:spPr>
          <a:xfrm rot="5400000">
            <a:off x="7133401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15" name="Google Shape;1015;p43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6" name="Google Shape;1016;p4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7" name="Google Shape;1017;p4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8" name="Google Shape;1018;p4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412994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Title and body"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4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21" name="Google Shape;1021;p4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337883" algn="l" rtl="0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1721"/>
              <a:buChar char="⚫"/>
              <a:defRPr/>
            </a:lvl1pPr>
            <a:lvl2pPr marL="914400" lvl="1" indent="-301942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55"/>
              <a:buChar char="⚪"/>
              <a:defRPr/>
            </a:lvl2pPr>
            <a:lvl3pPr marL="1371600" lvl="2" indent="-30003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25"/>
              <a:buChar char="⯍"/>
              <a:defRPr/>
            </a:lvl3pPr>
            <a:lvl4pPr marL="1828800" lvl="3" indent="-2952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?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22" name="Google Shape;1022;p4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3824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1"/>
          <p:cNvSpPr/>
          <p:nvPr/>
        </p:nvSpPr>
        <p:spPr>
          <a:xfrm>
            <a:off x="0" y="6096000"/>
            <a:ext cx="12192000" cy="7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54" name="Google Shape;754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5" name="Google Shape;755;p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6" name="Google Shape;756;p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7" name="Google Shape;757;p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58" name="Google Shape;758;p1"/>
          <p:cNvSpPr/>
          <p:nvPr/>
        </p:nvSpPr>
        <p:spPr>
          <a:xfrm>
            <a:off x="0" y="6140361"/>
            <a:ext cx="12192000" cy="7050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9" name="Google Shape;759;p1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890762" y="6165912"/>
            <a:ext cx="1935479" cy="6180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667407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5"/>
          <p:cNvSpPr/>
          <p:nvPr/>
        </p:nvSpPr>
        <p:spPr>
          <a:xfrm>
            <a:off x="0" y="6096000"/>
            <a:ext cx="12192000" cy="7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1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5" name="Google Shape;835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6" name="Google Shape;836;p1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7" name="Google Shape;837;p1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8" name="Google Shape;838;p1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839" name="Google Shape;839;p15"/>
          <p:cNvSpPr/>
          <p:nvPr/>
        </p:nvSpPr>
        <p:spPr>
          <a:xfrm>
            <a:off x="0" y="6140361"/>
            <a:ext cx="12192000" cy="7050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0" name="Google Shape;840;p15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890762" y="6165912"/>
            <a:ext cx="1935479" cy="6180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2860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96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2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12" name="Google Shape;912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3" name="Google Shape;913;p2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4" name="Google Shape;914;p2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5" name="Google Shape;915;p2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16" name="Google Shape;916;p27"/>
          <p:cNvSpPr/>
          <p:nvPr/>
        </p:nvSpPr>
        <p:spPr>
          <a:xfrm>
            <a:off x="0" y="-335280"/>
            <a:ext cx="12192000" cy="71934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7" name="Google Shape;917;p27"/>
          <p:cNvCxnSpPr/>
          <p:nvPr/>
        </p:nvCxnSpPr>
        <p:spPr>
          <a:xfrm>
            <a:off x="3345180" y="2707281"/>
            <a:ext cx="0" cy="2283900"/>
          </a:xfrm>
          <a:prstGeom prst="straightConnector1">
            <a:avLst/>
          </a:pr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18" name="Google Shape;918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1862" y="2544174"/>
            <a:ext cx="4801940" cy="15334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474374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  <p:sldLayoutId id="214748369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2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23" name="Google Shape;923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4" name="Google Shape;924;p2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5" name="Google Shape;925;p2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6" name="Google Shape;926;p2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27" name="Google Shape;927;p29"/>
          <p:cNvSpPr/>
          <p:nvPr/>
        </p:nvSpPr>
        <p:spPr>
          <a:xfrm>
            <a:off x="0" y="-335280"/>
            <a:ext cx="12192000" cy="71934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8" name="Google Shape;928;p29"/>
          <p:cNvCxnSpPr/>
          <p:nvPr/>
        </p:nvCxnSpPr>
        <p:spPr>
          <a:xfrm>
            <a:off x="3345180" y="2707281"/>
            <a:ext cx="0" cy="2283900"/>
          </a:xfrm>
          <a:prstGeom prst="straightConnector1">
            <a:avLst/>
          </a:pr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29" name="Google Shape;929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1862" y="2544174"/>
            <a:ext cx="4801940" cy="1533432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29"/>
          <p:cNvSpPr/>
          <p:nvPr/>
        </p:nvSpPr>
        <p:spPr>
          <a:xfrm>
            <a:off x="0" y="-335280"/>
            <a:ext cx="12192000" cy="71934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1" name="Google Shape;931;p29"/>
          <p:cNvCxnSpPr/>
          <p:nvPr/>
        </p:nvCxnSpPr>
        <p:spPr>
          <a:xfrm>
            <a:off x="3345180" y="2707281"/>
            <a:ext cx="0" cy="2283900"/>
          </a:xfrm>
          <a:prstGeom prst="straightConnector1">
            <a:avLst/>
          </a:pr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32" name="Google Shape;932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1862" y="2544174"/>
            <a:ext cx="4801940" cy="15334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683342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32"/>
          <p:cNvSpPr/>
          <p:nvPr/>
        </p:nvSpPr>
        <p:spPr>
          <a:xfrm>
            <a:off x="0" y="6096000"/>
            <a:ext cx="12192000" cy="7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44" name="Google Shape;944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5" name="Google Shape;945;p3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6" name="Google Shape;946;p3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7" name="Google Shape;947;p3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48" name="Google Shape;948;p32"/>
          <p:cNvSpPr/>
          <p:nvPr/>
        </p:nvSpPr>
        <p:spPr>
          <a:xfrm>
            <a:off x="0" y="6140361"/>
            <a:ext cx="12192000" cy="7050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9" name="Google Shape;949;p32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890762" y="6165912"/>
            <a:ext cx="1935479" cy="6180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156829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011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959352" y="128557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ReviewLens — AI-Powered Aspect-Based Product Review Analyzer</a:t>
            </a:r>
            <a:endParaRPr lang="en-US" sz="280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923809"/>
            <a:ext cx="10588752" cy="1988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No: 1                                                                                                  Category: </a:t>
            </a:r>
            <a:r>
              <a:rPr lang="en-US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216065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COLLABORATOR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50317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Sarvanam, Computer Retail &amp; Sales (local computer shop)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183086" y="2276127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GUIDE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183086" y="2471897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T. Senthil Kumar, Professor, CSE Department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28849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600">
              <a:solidFill>
                <a:srgbClr val="FF0000"/>
              </a:solidFill>
            </a:endParaRPr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640080" y="3274708"/>
          <a:ext cx="11274552" cy="18288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No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ID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No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URL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262626"/>
                          </a:solidFill>
                        </a:rPr>
                        <a:t>CB.SC.U4CSE24220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262626"/>
                          </a:solidFill>
                        </a:rPr>
                        <a:t>P. Gireesh Vardhan</a:t>
                      </a:r>
                      <a:endParaRPr lang="en-US" sz="10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262626"/>
                          </a:solidFill>
                        </a:rPr>
                        <a:t>cb.sc.u4cse24220@cb.students.amrita.edu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262626"/>
                          </a:solidFill>
                        </a:rPr>
                        <a:t>8309709213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262626"/>
                          </a:solidFill>
                        </a:rPr>
                        <a:t>github.com/Gireesh-Vardhan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262626"/>
                          </a:solidFill>
                        </a:rPr>
                        <a:t>CB.SC.U4CSE24617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262626"/>
                          </a:solidFill>
                        </a:rPr>
                        <a:t>CM. Bhanu Teja Reddy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262626"/>
                          </a:solidFill>
                        </a:rPr>
                        <a:t>cb.sc.u4cse24617@cb.students.amrita.edu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262626"/>
                          </a:solidFill>
                        </a:rPr>
                        <a:t>7989194671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262626"/>
                          </a:solidFill>
                        </a:rPr>
                        <a:t>github.com/Bhanu-1406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262626"/>
                          </a:solidFill>
                        </a:rPr>
                        <a:t>CB.SC.U4CSE24630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262626"/>
                          </a:solidFill>
                        </a:rPr>
                        <a:t>K. Tarun Kumar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262626"/>
                          </a:solidFill>
                        </a:rPr>
                        <a:t>cb.sc.u4cse24630@cb.students.amrita.edu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262626"/>
                          </a:solidFill>
                        </a:rPr>
                        <a:t>6302223914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262626"/>
                          </a:solidFill>
                        </a:rPr>
                        <a:t>github.com/tarunkumar108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640080" y="5166360"/>
            <a:ext cx="45000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b="1">
                <a:latin typeface="Calibri"/>
                <a:ea typeface="Calibri"/>
                <a:cs typeface="Calibri"/>
              </a:rPr>
              <a:t>   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>
              <a:solidFill>
                <a:srgbClr val="FF0000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363E79-8852-E211-BCE6-3E9C3F640AA7}"/>
              </a:ext>
            </a:extLst>
          </p:cNvPr>
          <p:cNvSpPr txBox="1"/>
          <p:nvPr/>
        </p:nvSpPr>
        <p:spPr>
          <a:xfrm>
            <a:off x="640080" y="5605492"/>
            <a:ext cx="99408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i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is prepared for </a:t>
            </a:r>
            <a:r>
              <a:rPr lang="en-US" sz="1600" b="1" i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Project</a:t>
            </a:r>
          </a:p>
          <a:p>
            <a:pPr marL="0" indent="0">
              <a:buNone/>
            </a:pPr>
            <a:r>
              <a:rPr lang="en-US" sz="1600" b="1" i="1">
                <a:solidFill>
                  <a:srgbClr val="FF0000"/>
                </a:solidFill>
                <a:latin typeface="Calibri" pitchFamily="34" charset="0"/>
                <a:cs typeface="Calibri" pitchFamily="34" charset="-120"/>
              </a:rPr>
              <a:t>Course Code – Name: 23CSE471 – Natural Language Processing</a:t>
            </a:r>
            <a:endParaRPr lang="en-US" sz="1600">
              <a:solidFill>
                <a:srgbClr val="FF0000"/>
              </a:solidFill>
            </a:endParaRPr>
          </a:p>
        </p:txBody>
      </p:sp>
      <p:pic>
        <p:nvPicPr>
          <p:cNvPr id="22" name="Picture 2" descr="Amrita Vishwa Vidyapeetham, Coimbatore: Courses, Fees ...">
            <a:extLst>
              <a:ext uri="{FF2B5EF4-FFF2-40B4-BE49-F238E27FC236}">
                <a16:creationId xmlns:a16="http://schemas.microsoft.com/office/drawing/2014/main" id="{8F23BC69-80AD-8BA8-BC5B-CEF206E32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25989" y="133557"/>
            <a:ext cx="965000" cy="943069"/>
          </a:xfrm>
          <a:prstGeom prst="rect">
            <a:avLst/>
          </a:prstGeom>
          <a:noFill/>
        </p:spPr>
      </p:pic>
      <p:sp>
        <p:nvSpPr>
          <p:cNvPr id="23" name="TextBox 22"/>
          <p:cNvSpPr txBox="1"/>
          <p:nvPr/>
        </p:nvSpPr>
        <p:spPr>
          <a:xfrm>
            <a:off x="6183086" y="5166360"/>
            <a:ext cx="521208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</a:rPr>
              <a:t>GitHub Repository: </a:t>
            </a:r>
            <a:r>
              <a:rPr sz="1300" b="1">
                <a:solidFill>
                  <a:srgbClr val="000000"/>
                </a:solidFill>
              </a:rPr>
              <a:t>github.com/Gireesh-Vardhan/ReviewLens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079C94-6F02-29C1-4D4F-40A202C628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9548" y="3735631"/>
            <a:ext cx="589936" cy="4465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10640E-C29C-220E-BEFF-C8D98F8456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9548" y="4182157"/>
            <a:ext cx="589936" cy="46092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A46B9C9-841D-739E-73EC-79A2489CDB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9549" y="4650924"/>
            <a:ext cx="589936" cy="45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29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Statement: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50000"/>
            <a:ext cx="5486400" cy="11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100">
                <a:solidFill>
                  <a:srgbClr val="000000"/>
                </a:solidFill>
              </a:rPr>
              <a:t>A single popular product can accumulate thousands of weekly reviews that mix emotions, colloquialisms, and multiple features in one sentence. Keyword-matching and document-level sentiment tools flatten opposing sentiments and miss implicit aspect mentions — there's a need for a system that isolates individual aspects and aggregates them into a clear, feature-by-feature breakdown.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2080000"/>
            <a:ext cx="4572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</a:rPr>
              <a:t>Objective:</a:t>
            </a:r>
          </a:p>
        </p:txBody>
      </p:sp>
      <p:sp>
        <p:nvSpPr>
          <p:cNvPr id="7" name="Text 5"/>
          <p:cNvSpPr/>
          <p:nvPr/>
        </p:nvSpPr>
        <p:spPr>
          <a:xfrm>
            <a:off x="1005840" y="2500000"/>
            <a:ext cx="4846320" cy="7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100">
                <a:solidFill>
                  <a:srgbClr val="000000"/>
                </a:solidFill>
              </a:rPr>
              <a:t>Build an AI-powered Aspect-Based Product Review Analyzer that extracts product features from raw review text and quantifies sentiment for each feature individually, producing a grounded, hallucination-free pros-and-cons summary.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3330000"/>
            <a:ext cx="4572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</a:rPr>
              <a:t>Sub-Objectives:</a:t>
            </a:r>
          </a:p>
        </p:txBody>
      </p:sp>
      <p:sp>
        <p:nvSpPr>
          <p:cNvPr id="11" name="Text 9"/>
          <p:cNvSpPr/>
          <p:nvPr/>
        </p:nvSpPr>
        <p:spPr>
          <a:xfrm>
            <a:off x="1005840" y="3750000"/>
            <a:ext cx="4846320" cy="24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000000"/>
                </a:solidFill>
              </a:rPr>
              <a:t>Extract fine-grained product aspects from raw reviews using DeBERTa-v3</a:t>
            </a:r>
            <a:endParaRPr lang="en-US" sz="1200" dirty="0">
              <a:solidFill>
                <a:srgbClr val="FF0000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000000"/>
                </a:solidFill>
              </a:rPr>
              <a:t>Classify sentiment (Positive / Negative / Neutral) per aspect with attention-based alignment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000000"/>
                </a:solidFill>
              </a:rPr>
              <a:t>Aggregate feature-level sentiment across thousands of reviews without losing nuance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000000"/>
                </a:solidFill>
              </a:rPr>
              <a:t>Constrain summary generation with RAG so no unmentioned feature is hallucinated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000000"/>
                </a:solidFill>
              </a:rPr>
              <a:t>Present findings on an accessible dashboard for non-technical users</a:t>
            </a:r>
          </a:p>
        </p:txBody>
      </p:sp>
      <p:sp>
        <p:nvSpPr>
          <p:cNvPr id="13" name="Text 11"/>
          <p:cNvSpPr/>
          <p:nvPr/>
        </p:nvSpPr>
        <p:spPr>
          <a:xfrm>
            <a:off x="5989320" y="48006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</a:rPr>
              <a:t>Architecture diagram:</a:t>
            </a:r>
          </a:p>
        </p:txBody>
      </p:sp>
      <p:sp>
        <p:nvSpPr>
          <p:cNvPr id="15" name="Text 13"/>
          <p:cNvSpPr/>
          <p:nvPr/>
        </p:nvSpPr>
        <p:spPr>
          <a:xfrm>
            <a:off x="6195060" y="338328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7566660" y="338328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8938260" y="338328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5989320" y="539496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183086" y="820000"/>
            <a:ext cx="5212080" cy="620000"/>
          </a:xfrm>
          <a:prstGeom prst="roundRect">
            <a:avLst>
              <a:gd name="adj" fmla="val 7000"/>
            </a:avLst>
          </a:prstGeom>
          <a:solidFill>
            <a:srgbClr val="F7F2F3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20000" rIns="90000" bIns="20000" rtlCol="0" anchor="ctr"/>
          <a:lstStyle/>
          <a:p>
            <a:pPr algn="l"/>
            <a:r>
              <a:rPr sz="1150" b="1">
                <a:solidFill>
                  <a:srgbClr val="C00000"/>
                </a:solidFill>
              </a:rPr>
              <a:t>Input</a:t>
            </a:r>
          </a:p>
          <a:p>
            <a:pPr algn="l"/>
            <a:r>
              <a:rPr sz="850">
                <a:solidFill>
                  <a:srgbClr val="404040"/>
                </a:solidFill>
              </a:rPr>
              <a:t>Raw Product Reviews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3086" y="1545000"/>
            <a:ext cx="5212080" cy="620000"/>
          </a:xfrm>
          <a:prstGeom prst="roundRect">
            <a:avLst>
              <a:gd name="adj" fmla="val 7000"/>
            </a:avLst>
          </a:prstGeom>
          <a:solidFill>
            <a:srgbClr val="F7F2F3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20000" rIns="90000" bIns="20000" rtlCol="0" anchor="ctr"/>
          <a:lstStyle/>
          <a:p>
            <a:pPr algn="l"/>
            <a:r>
              <a:rPr sz="1150" b="1">
                <a:solidFill>
                  <a:srgbClr val="C00000"/>
                </a:solidFill>
              </a:rPr>
              <a:t>Aspect Extraction</a:t>
            </a:r>
          </a:p>
          <a:p>
            <a:pPr algn="l"/>
            <a:r>
              <a:rPr sz="850">
                <a:solidFill>
                  <a:srgbClr val="404040"/>
                </a:solidFill>
              </a:rPr>
              <a:t>DeBERTa-v3 sequence labeling identifies target product features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3086" y="2270000"/>
            <a:ext cx="5212080" cy="620000"/>
          </a:xfrm>
          <a:prstGeom prst="roundRect">
            <a:avLst>
              <a:gd name="adj" fmla="val 7000"/>
            </a:avLst>
          </a:prstGeom>
          <a:solidFill>
            <a:srgbClr val="F7F2F3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20000" rIns="90000" bIns="20000" rtlCol="0" anchor="ctr"/>
          <a:lstStyle/>
          <a:p>
            <a:pPr algn="l"/>
            <a:r>
              <a:rPr sz="1150" b="1">
                <a:solidFill>
                  <a:srgbClr val="C00000"/>
                </a:solidFill>
              </a:rPr>
              <a:t>Sentiment Classification</a:t>
            </a:r>
          </a:p>
          <a:p>
            <a:pPr algn="l"/>
            <a:r>
              <a:rPr sz="850">
                <a:solidFill>
                  <a:srgbClr val="404040"/>
                </a:solidFill>
              </a:rPr>
              <a:t>Attention-based classifier scores each aspect Positive / Negative / Neutral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3086" y="2995000"/>
            <a:ext cx="5212080" cy="620000"/>
          </a:xfrm>
          <a:prstGeom prst="roundRect">
            <a:avLst>
              <a:gd name="adj" fmla="val 7000"/>
            </a:avLst>
          </a:prstGeom>
          <a:solidFill>
            <a:srgbClr val="F7F2F3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20000" rIns="90000" bIns="20000" rtlCol="0" anchor="ctr"/>
          <a:lstStyle/>
          <a:p>
            <a:pPr algn="l"/>
            <a:r>
              <a:rPr sz="1150" b="1">
                <a:solidFill>
                  <a:srgbClr val="C00000"/>
                </a:solidFill>
              </a:rPr>
              <a:t>Score Aggregation</a:t>
            </a:r>
          </a:p>
          <a:p>
            <a:pPr algn="l"/>
            <a:r>
              <a:rPr sz="850">
                <a:solidFill>
                  <a:srgbClr val="404040"/>
                </a:solidFill>
              </a:rPr>
              <a:t>Feature-level sentiment tabulated across all reviews for the product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83086" y="3720000"/>
            <a:ext cx="5212080" cy="620000"/>
          </a:xfrm>
          <a:prstGeom prst="roundRect">
            <a:avLst>
              <a:gd name="adj" fmla="val 7000"/>
            </a:avLst>
          </a:prstGeom>
          <a:solidFill>
            <a:srgbClr val="F7F2F3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20000" rIns="90000" bIns="20000" rtlCol="0" anchor="ctr"/>
          <a:lstStyle/>
          <a:p>
            <a:pPr algn="l"/>
            <a:r>
              <a:rPr sz="1150" b="1">
                <a:solidFill>
                  <a:srgbClr val="C00000"/>
                </a:solidFill>
              </a:rPr>
              <a:t>RAG Synthesis</a:t>
            </a:r>
          </a:p>
          <a:p>
            <a:pPr algn="l"/>
            <a:r>
              <a:rPr sz="850">
                <a:solidFill>
                  <a:srgbClr val="404040"/>
                </a:solidFill>
              </a:rPr>
              <a:t>Retrieval-constrained generator drafts a grounded, hallucination-safe summary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83086" y="4445000"/>
            <a:ext cx="5212080" cy="620000"/>
          </a:xfrm>
          <a:prstGeom prst="roundRect">
            <a:avLst>
              <a:gd name="adj" fmla="val 7000"/>
            </a:avLst>
          </a:prstGeom>
          <a:solidFill>
            <a:srgbClr val="F7F2F3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20000" rIns="90000" bIns="20000" rtlCol="0" anchor="ctr"/>
          <a:lstStyle/>
          <a:p>
            <a:pPr algn="l"/>
            <a:r>
              <a:rPr sz="1150" b="1">
                <a:solidFill>
                  <a:srgbClr val="C00000"/>
                </a:solidFill>
              </a:rPr>
              <a:t>Output</a:t>
            </a:r>
          </a:p>
          <a:p>
            <a:pPr algn="l"/>
            <a:r>
              <a:rPr sz="850">
                <a:solidFill>
                  <a:srgbClr val="404040"/>
                </a:solidFill>
              </a:rPr>
              <a:t>Aspect-Level Pros &amp; Cons Dashboard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789126" y="1440000"/>
            <a:ext cx="0" cy="105000"/>
          </a:xfrm>
          <a:prstGeom prst="line">
            <a:avLst/>
          </a:prstGeom>
          <a:ln w="19050">
            <a:solidFill>
              <a:srgbClr val="8A8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789126" y="2165000"/>
            <a:ext cx="0" cy="105000"/>
          </a:xfrm>
          <a:prstGeom prst="line">
            <a:avLst/>
          </a:prstGeom>
          <a:ln w="19050">
            <a:solidFill>
              <a:srgbClr val="8A8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789126" y="2890000"/>
            <a:ext cx="0" cy="105000"/>
          </a:xfrm>
          <a:prstGeom prst="line">
            <a:avLst/>
          </a:prstGeom>
          <a:ln w="19050">
            <a:solidFill>
              <a:srgbClr val="8A8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789126" y="3615000"/>
            <a:ext cx="0" cy="105000"/>
          </a:xfrm>
          <a:prstGeom prst="line">
            <a:avLst/>
          </a:prstGeom>
          <a:ln w="19050">
            <a:solidFill>
              <a:srgbClr val="8A8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789126" y="4340000"/>
            <a:ext cx="0" cy="105000"/>
          </a:xfrm>
          <a:prstGeom prst="line">
            <a:avLst/>
          </a:prstGeom>
          <a:ln w="19050">
            <a:solidFill>
              <a:srgbClr val="8A8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183086" y="5210000"/>
            <a:ext cx="52120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333333"/>
                </a:solidFill>
              </a:rPr>
              <a:t>Proposed pipeline — dataset finalized; extraction, classification &amp; RAG stages in development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 Products in the Same Area: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solidFill>
                <a:srgbClr val="FF0000"/>
              </a:solidFill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995237"/>
              </p:ext>
            </p:extLst>
          </p:nvPr>
        </p:nvGraphicFramePr>
        <p:xfrm>
          <a:off x="263236" y="1417320"/>
          <a:ext cx="11285635" cy="4602480"/>
        </p:xfrm>
        <a:graphic>
          <a:graphicData uri="http://schemas.openxmlformats.org/drawingml/2006/table">
            <a:tbl>
              <a:tblPr/>
              <a:tblGrid>
                <a:gridCol w="1584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893">
                  <a:extLst>
                    <a:ext uri="{9D8B030D-6E8A-4147-A177-3AD203B41FA5}">
                      <a16:colId xmlns:a16="http://schemas.microsoft.com/office/drawing/2014/main" val="2081401370"/>
                    </a:ext>
                  </a:extLst>
                </a:gridCol>
                <a:gridCol w="3489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6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Name </a:t>
                      </a:r>
                      <a:endParaRPr lang="en-US" sz="28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i="0" u="none" strike="noStrike" cap="none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sym typeface="Arial"/>
                        </a:rPr>
                        <a:t>URL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28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28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>
                          <a:solidFill>
                            <a:srgbClr val="262626"/>
                          </a:solidFill>
                        </a:rPr>
                        <a:t>Amazon Review Insights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>
                          <a:solidFill>
                            <a:srgbClr val="262626"/>
                          </a:solidFill>
                        </a:rPr>
                        <a:t>amazon.com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>
                          <a:solidFill>
                            <a:srgbClr val="262626"/>
                          </a:solidFill>
                        </a:rPr>
                        <a:t>Surfaces popular keyword “mentions” with clickable filters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>
                          <a:solidFill>
                            <a:srgbClr val="262626"/>
                          </a:solidFill>
                        </a:rPr>
                        <a:t>Frequency-based only; no multi-sentiment isolation; Amazon-only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>
                          <a:solidFill>
                            <a:srgbClr val="262626"/>
                          </a:solidFill>
                        </a:rPr>
                        <a:t>Yelp Aspect Trends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>
                          <a:solidFill>
                            <a:srgbClr val="262626"/>
                          </a:solidFill>
                        </a:rPr>
                        <a:t>yelp.com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>
                          <a:solidFill>
                            <a:srgbClr val="262626"/>
                          </a:solidFill>
                        </a:rPr>
                        <a:t>Visualizes sentiment trends for business categories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>
                          <a:solidFill>
                            <a:srgbClr val="262626"/>
                          </a:solidFill>
                        </a:rPr>
                        <a:t>Hand-crafted rules; can't identify new, unmapped features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>
                          <a:solidFill>
                            <a:srgbClr val="262626"/>
                          </a:solidFill>
                        </a:rPr>
                        <a:t>MonkeyLearn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>
                          <a:solidFill>
                            <a:srgbClr val="262626"/>
                          </a:solidFill>
                        </a:rPr>
                        <a:t>monkeylearn.com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>
                          <a:solidFill>
                            <a:srgbClr val="262626"/>
                          </a:solidFill>
                        </a:rPr>
                        <a:t>No-code text analysis with custom entity/sentiment classifiers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>
                          <a:solidFill>
                            <a:srgbClr val="262626"/>
                          </a:solidFill>
                        </a:rPr>
                        <a:t>Separate models per task; paid-tier gating; no unified RAG summary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>
                          <a:solidFill>
                            <a:srgbClr val="262626"/>
                          </a:solidFill>
                        </a:rPr>
                        <a:t>PyABSA (Library)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>
                          <a:solidFill>
                            <a:srgbClr val="262626"/>
                          </a:solidFill>
                        </a:rPr>
                        <a:t>github.com/yangheng95/PyABSA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>
                          <a:solidFill>
                            <a:srgbClr val="262626"/>
                          </a:solidFill>
                        </a:rPr>
                        <a:t>Open-source, state-of-the-art ABSA models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>
                          <a:solidFill>
                            <a:srgbClr val="262626"/>
                          </a:solidFill>
                        </a:rPr>
                        <a:t>Developer-only, no UI; no cross-review aggregation or reports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8150850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 of Product: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>
                <a:solidFill>
                  <a:srgbClr val="000000"/>
                </a:solidFill>
              </a:rPr>
              <a:t>ReviewLens is an AI-powered Aspect-Based Product Review Analyzer that extracts individual product features from raw review text using DeBERTa-v3, scores sentiment for each feature with an attention-based classifier, aggregates results across thousands of reviews, and synthesizes a hallucination-safe, RAG-grounded pros-and-cons summary on an accessible dashboard.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Novelty: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2724912" cy="37033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234440" y="29718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the Art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235915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50">
                <a:solidFill>
                  <a:srgbClr val="000000"/>
                </a:solidFill>
              </a:rPr>
              <a:t>Tools like Amazon Review Insights, Yelp Aspect Trends, MonkeyLearn, and PyABSA support keyword-level sentiment or developer-only ABSA models, but none combine aspect extraction, sentiment classification, cross-review aggregation, and grounded summary generation in one consumer-facing pipeline.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3319272" y="2743200"/>
            <a:ext cx="2724912" cy="37033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3502152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096512" y="29718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3502152" y="3611880"/>
            <a:ext cx="235915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50">
                <a:solidFill>
                  <a:srgbClr val="000000"/>
                </a:solidFill>
              </a:rPr>
              <a:t>ReviewLens unifies aspect extraction, sentiment classification, score aggregation, and RAG-based summary generation into a single end-to-end application built on the SemEval-2016 ABSA benchmark.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81344" y="2743200"/>
            <a:ext cx="2724912" cy="37033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8" name="Text 16"/>
          <p:cNvSpPr/>
          <p:nvPr/>
        </p:nvSpPr>
        <p:spPr>
          <a:xfrm>
            <a:off x="6364224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958584" y="29718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Features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64224" y="3611880"/>
            <a:ext cx="235915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Font typeface="Arial"/>
              <a:buChar char="•"/>
            </a:pPr>
            <a:r>
              <a:rPr sz="1050">
                <a:solidFill>
                  <a:srgbClr val="000000"/>
                </a:solidFill>
              </a:rPr>
              <a:t>DeBERTa-v3 aspect extraction</a:t>
            </a:r>
            <a:endParaRPr lang="en-US" sz="1600" dirty="0">
              <a:solidFill>
                <a:srgbClr val="FF0000"/>
              </a:solidFill>
            </a:endParaRPr>
          </a:p>
          <a:p>
            <a:pPr marL="228600" indent="-228600">
              <a:buFont typeface="Arial"/>
              <a:buChar char="•"/>
            </a:pPr>
            <a:r>
              <a:rPr sz="1050">
                <a:solidFill>
                  <a:srgbClr val="000000"/>
                </a:solidFill>
              </a:rPr>
              <a:t>Attention-based sentiment alignment</a:t>
            </a:r>
          </a:p>
          <a:p>
            <a:pPr marL="228600" indent="-228600">
              <a:buFont typeface="Arial"/>
              <a:buChar char="•"/>
            </a:pPr>
            <a:r>
              <a:rPr sz="1050">
                <a:solidFill>
                  <a:srgbClr val="000000"/>
                </a:solidFill>
              </a:rPr>
              <a:t>Cross-review score aggregation</a:t>
            </a:r>
          </a:p>
          <a:p>
            <a:pPr marL="228600" indent="-228600">
              <a:buFont typeface="Arial"/>
              <a:buChar char="•"/>
            </a:pPr>
            <a:r>
              <a:rPr sz="1050">
                <a:solidFill>
                  <a:srgbClr val="000000"/>
                </a:solidFill>
              </a:rPr>
              <a:t>Hallucination-safe RAG summaries</a:t>
            </a:r>
          </a:p>
          <a:p>
            <a:pPr marL="228600" indent="-228600">
              <a:buFont typeface="Arial"/>
              <a:buChar char="•"/>
            </a:pPr>
            <a:r>
              <a:rPr sz="1050">
                <a:solidFill>
                  <a:srgbClr val="000000"/>
                </a:solidFill>
              </a:rPr>
              <a:t>Accessible pros-and-cons dashboard</a:t>
            </a:r>
          </a:p>
        </p:txBody>
      </p:sp>
      <p:sp>
        <p:nvSpPr>
          <p:cNvPr id="21" name="Shape 19"/>
          <p:cNvSpPr/>
          <p:nvPr/>
        </p:nvSpPr>
        <p:spPr>
          <a:xfrm>
            <a:off x="9043416" y="2743200"/>
            <a:ext cx="2724912" cy="37033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3" name="Text 21"/>
          <p:cNvSpPr/>
          <p:nvPr/>
        </p:nvSpPr>
        <p:spPr>
          <a:xfrm>
            <a:off x="9226296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9820656" y="29718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Focused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9226296" y="3611880"/>
            <a:ext cx="235915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50">
                <a:solidFill>
                  <a:srgbClr val="000000"/>
                </a:solidFill>
              </a:rPr>
              <a:t>Most platforms flatten sentiment at the sentence or document level and can't trace a summarized claim back to its source. ReviewLens targets this fragmentation gap so buyers get an explainable, feature-by-feature verdict grounded in the original review text.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Contributions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contribution of each team member</a:t>
            </a:r>
            <a:endParaRPr lang="en-US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03882"/>
              </p:ext>
            </p:extLst>
          </p:nvPr>
        </p:nvGraphicFramePr>
        <p:xfrm>
          <a:off x="457200" y="1206454"/>
          <a:ext cx="11274552" cy="310896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Name</a:t>
                      </a:r>
                      <a:endParaRPr lang="en-US" sz="16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 (Technical)</a:t>
                      </a:r>
                      <a:endParaRPr lang="en-US" sz="16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262626"/>
                          </a:solidFill>
                        </a:rPr>
                        <a:t>P. Gireesh Vardhan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>
                          <a:solidFill>
                            <a:srgbClr val="262626"/>
                          </a:solidFill>
                        </a:rPr>
                        <a:t>NLP Concept &amp; Modeling: designed the aspect-extraction and sentiment-classification approach around DeBERTa-v3, defined the attention-based alignment strategy, and shaped the RAG-based summary generation concept.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262626"/>
                          </a:solidFill>
                        </a:rPr>
                        <a:t>CM. Bhanu Teja Reddy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</a:rPr>
                        <a:t>Dataset: sourced and prepared the SemEval-2016 ABSA benchmark dataset, handling annotation review,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100" b="0" i="0" u="none" strike="noStrike" cap="none" dirty="0">
                          <a:solidFill>
                            <a:srgbClr val="262626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Curated the SemEval-2016 dataset on IEEE </a:t>
                      </a:r>
                      <a:r>
                        <a:rPr lang="en-US" sz="1100" b="0" i="0" u="none" strike="noStrike" cap="none" dirty="0" err="1">
                          <a:solidFill>
                            <a:srgbClr val="262626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DataPort</a:t>
                      </a:r>
                      <a:r>
                        <a:rPr lang="en-US" sz="1100" b="0" i="0" u="none" strike="noStrike" cap="none" dirty="0">
                          <a:solidFill>
                            <a:srgbClr val="262626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, baseline </a:t>
                      </a:r>
                      <a:r>
                        <a:rPr lang="en-US" sz="1100" b="0" i="0" u="none" strike="noStrike" cap="none" dirty="0" err="1">
                          <a:solidFill>
                            <a:srgbClr val="262626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BiLSTM</a:t>
                      </a:r>
                      <a:r>
                        <a:rPr lang="en-US" sz="1100" b="0" i="0" u="none" strike="noStrike" cap="none" dirty="0">
                          <a:solidFill>
                            <a:srgbClr val="262626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modeling, and empirical ablation benchmarks..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262626"/>
                          </a:solidFill>
                        </a:rPr>
                        <a:t>K. Tarun Kumar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 dirty="0">
                          <a:solidFill>
                            <a:srgbClr val="262626"/>
                          </a:solidFill>
                        </a:rPr>
                        <a:t>UI / Dashboard: designed and built the product's user interface, including the aspect-level pros-and-cons dashboard for presenting sentiment results.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100" b="0" i="0" u="none" strike="noStrike" cap="none" dirty="0">
                          <a:solidFill>
                            <a:srgbClr val="262626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voice narration engine, and cloud deployment pipeline. voice narration engine, and cloud deployment pipeline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.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D2EC4925-13C0-4F9C-9EC6-BA379B2903BA}" vid="{D05CAAF7-8C12-42B7-AE16-5E8F348BAE34}"/>
    </a:ext>
  </a:extLst>
</a:theme>
</file>

<file path=ppt/theme/theme2.xml><?xml version="1.0" encoding="utf-8"?>
<a:theme xmlns:a="http://schemas.openxmlformats.org/drawingml/2006/main" name="Presentation slides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resentation Cover pag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Presentation Cover pag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Presentation slides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33</TotalTime>
  <Words>821</Words>
  <Application>Microsoft Office PowerPoint</Application>
  <PresentationFormat>Widescreen</PresentationFormat>
  <Paragraphs>116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5</vt:i4>
      </vt:variant>
    </vt:vector>
  </HeadingPairs>
  <TitlesOfParts>
    <vt:vector size="16" baseType="lpstr">
      <vt:lpstr>Arial</vt:lpstr>
      <vt:lpstr>Avenir</vt:lpstr>
      <vt:lpstr>Calibri</vt:lpstr>
      <vt:lpstr>Cambria</vt:lpstr>
      <vt:lpstr>Garamond</vt:lpstr>
      <vt:lpstr>Poppins</vt:lpstr>
      <vt:lpstr>Theme1</vt:lpstr>
      <vt:lpstr>Presentation slides</vt:lpstr>
      <vt:lpstr>Presentation Cover page</vt:lpstr>
      <vt:lpstr>1_Presentation Cover page</vt:lpstr>
      <vt:lpstr>1_Presentation slides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CM BHANU TEJA REDDY - [CB.SC.U4CSE24617]</cp:lastModifiedBy>
  <cp:revision>9</cp:revision>
  <dcterms:created xsi:type="dcterms:W3CDTF">2026-08-20T08:53:47Z</dcterms:created>
  <dcterms:modified xsi:type="dcterms:W3CDTF">2026-10-19T10:31:02Z</dcterms:modified>
</cp:coreProperties>
</file>